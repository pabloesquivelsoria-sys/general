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cn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508000"/>
            <a:ext cx="1151466" cy="508000"/>
          </a:xfrm>
          <a:prstGeom prst="rect">
            <a:avLst/>
          </a:prstGeom>
        </p:spPr>
      </p:pic>
      <p:pic>
        <p:nvPicPr>
          <p:cNvPr id="4" name="Picture 3" descr="itc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066" y="508000"/>
            <a:ext cx="1074898" cy="50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8800" y="1241430"/>
            <a:ext cx="4813432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556079"/>
                </a:solidFill>
                <a:latin typeface="DM Mono"/>
              </a:rPr>
              <a:t>TECNOLÓGICO NACIONAL DE MÉXICO — INSTITUTO TECNOLÓGICO DE CIUDAD JUÁREZ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1933732"/>
            <a:ext cx="2513807" cy="1289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80" spc="150">
                <a:solidFill>
                  <a:srgbClr val="C8372D"/>
                </a:solidFill>
                <a:latin typeface="DM Mono"/>
              </a:rPr>
              <a:t>JUSTIFICACIÓN DE LA HIPÓTESIS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817115"/>
            <a:ext cx="2945532" cy="1783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800">
                <a:solidFill>
                  <a:srgbClr val="13294B"/>
                </a:solidFill>
                <a:latin typeface="Instrument Serif"/>
              </a:rPr>
              <a:t>Salud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883916"/>
            <a:ext cx="3044781" cy="1783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10800">
                <a:solidFill>
                  <a:srgbClr val="13294B"/>
                </a:solidFill>
                <a:latin typeface="Instrument Serif"/>
              </a:rPr>
              <a:t>bucal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4522293"/>
            <a:ext cx="5257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b="0" i="0" sz="1300">
                <a:solidFill>
                  <a:srgbClr val="556079"/>
                </a:solidFill>
                <a:latin typeface="Instrument Sans"/>
              </a:rPr>
              <a:t>Disponibilidad de tiempo y hábitos de higiene bucal en estudiantes universitarios de 18 a 23 años</a:t>
            </a:r>
          </a:p>
        </p:txBody>
      </p:sp>
      <p:pic>
        <p:nvPicPr>
          <p:cNvPr id="10" name="Picture 9" descr="portada_re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600" y="0"/>
            <a:ext cx="6223000" cy="514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96125" y="4852009"/>
            <a:ext cx="372465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SUEÑO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5245" y="4852009"/>
            <a:ext cx="434187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CLASES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515" y="4852009"/>
            <a:ext cx="49590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TRABAJO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4935" y="4852009"/>
            <a:ext cx="117485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TAREAS · TRASLADOS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7005" y="4852009"/>
            <a:ext cx="80451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TIEMPO LIBRE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9230" y="5029809"/>
            <a:ext cx="1236573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CEPILLADO REALIZADO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050" y="5029809"/>
            <a:ext cx="111312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CEPILLADO OMITIDO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5527730"/>
            <a:ext cx="842650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INTEGRANTES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800" y="5738050"/>
            <a:ext cx="1673791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Romero Elías Esmeralda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5941250"/>
            <a:ext cx="1832787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Rodríguez Esquivel Megan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6144450"/>
            <a:ext cx="1718293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Nolasco Mejia Luis Diego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5738050"/>
            <a:ext cx="1405774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Esquivel Soria Pablo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2400" y="5941250"/>
            <a:ext cx="1911133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Rodríguez Hernández Tania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55277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DOCENTE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5738050"/>
            <a:ext cx="1656941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Chávez Martínez Martín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6800" y="5527730"/>
            <a:ext cx="771601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ASIGNATURA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6800" y="5738050"/>
            <a:ext cx="1660830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Taller de Investigación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6800" y="5941250"/>
            <a:ext cx="1329588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Unidad II · 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000" y="5527730"/>
            <a:ext cx="984747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LUGAR Y FECHA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000" y="5738050"/>
            <a:ext cx="1185570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Cd. Juárez, Chih.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2000" y="5941250"/>
            <a:ext cx="1532798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14 de octubre de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800" y="6579209"/>
            <a:ext cx="4896002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FIG. 00 — RELOJ DE SOL: LA SOMBRA DEL DIENTE CAE SOBRE EL CEPILLADO OMITIDO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1714" y="6579209"/>
            <a:ext cx="1221486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MODELO ILUSTRATIVO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1189939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01 — HIPÓTESIS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5309128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La respuesta que proponemos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844730"/>
            <a:ext cx="183733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PREGUNTA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016369"/>
            <a:ext cx="735076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b="0" i="1" sz="1550">
                <a:solidFill>
                  <a:srgbClr val="556079"/>
                </a:solidFill>
                <a:latin typeface="Instrument Serif"/>
              </a:rPr>
              <a:t>¿De qué manera la disponibilidad de tiempo, condicionada por los horarios académicos y laborales, influye en los hábitos de higiene bucal de los estudiantes universitarios de 18 a 23 años?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59130"/>
            <a:ext cx="2263627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HIPÓTESIS · RESPUESTA TENTATIVA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3027582"/>
            <a:ext cx="7350760" cy="201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b="0" i="0" sz="2400">
                <a:solidFill>
                  <a:srgbClr val="13294B"/>
                </a:solidFill>
                <a:latin typeface="Instrument Serif"/>
              </a:rPr>
              <a:t>La </a:t>
            </a:r>
            <a:r>
              <a:rPr b="0" i="0" sz="2400">
                <a:solidFill>
                  <a:srgbClr val="C8372D"/>
                </a:solidFill>
                <a:latin typeface="Instrument Serif"/>
              </a:rPr>
              <a:t>disponibilidad de tiempo</a:t>
            </a:r>
            <a:r>
              <a:rPr b="0" i="0" sz="2400">
                <a:solidFill>
                  <a:srgbClr val="13294B"/>
                </a:solidFill>
                <a:latin typeface="Instrument Serif"/>
              </a:rPr>
              <a:t>, condicionada por los horarios académicos y laborales, influye de manera significativa en los </a:t>
            </a:r>
            <a:r>
              <a:rPr b="0" i="0" sz="2400">
                <a:solidFill>
                  <a:srgbClr val="00897B"/>
                </a:solidFill>
                <a:latin typeface="Instrument Serif"/>
              </a:rPr>
              <a:t>hábitos de higiene bucal</a:t>
            </a:r>
            <a:r>
              <a:rPr b="0" i="0" sz="2400">
                <a:solidFill>
                  <a:srgbClr val="13294B"/>
                </a:solidFill>
                <a:latin typeface="Instrument Serif"/>
              </a:rPr>
              <a:t> de los estudiantes universitarios de 18 a 23 años, de tal forma que </a:t>
            </a:r>
            <a:r>
              <a:rPr b="0" i="1" sz="2400">
                <a:solidFill>
                  <a:srgbClr val="13294B"/>
                </a:solidFill>
                <a:latin typeface="Instrument Serif"/>
              </a:rPr>
              <a:t>a menor tiempo disponible, menor es la frecuencia y calidad del cepillado dental.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5172130"/>
            <a:ext cx="1979432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VI · VARIABLE INDEPENDIENTE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1452" y="5172130"/>
            <a:ext cx="183733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VD · VARIABLE DEPENDIENTE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121" y="2042891"/>
            <a:ext cx="507156" cy="119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20" spc="110">
                <a:solidFill>
                  <a:srgbClr val="C8372D"/>
                </a:solidFill>
                <a:latin typeface="DM Mono"/>
              </a:rPr>
              <a:t>TIEMPO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71210" y="2042891"/>
            <a:ext cx="730178" cy="119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20" spc="110">
                <a:solidFill>
                  <a:srgbClr val="00897B"/>
                </a:solidFill>
                <a:latin typeface="DM Mono"/>
              </a:rPr>
              <a:t>CEPILLADO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7790" y="3525901"/>
            <a:ext cx="1136419" cy="2146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1" sz="1300">
                <a:solidFill>
                  <a:srgbClr val="13294B"/>
                </a:solidFill>
                <a:latin typeface="Instrument Serif"/>
              </a:rPr>
              <a:t>a menor tiempo,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6794" y="3856101"/>
            <a:ext cx="1118410" cy="2146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1" sz="1300">
                <a:solidFill>
                  <a:srgbClr val="13294B"/>
                </a:solidFill>
                <a:latin typeface="Instrument Serif"/>
              </a:rPr>
              <a:t>menor cepillado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2837" y="4648809"/>
            <a:ext cx="2446324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FIG. 01 — RELACIÓN ESPERADA (DIRECTA)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3293973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02 — ARGUMENTO 1 · MAGNITUD DEL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5365939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Un problema de salud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5004409"/>
            <a:ext cx="2188464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FIG. 02 — 95 DE CADA 100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9200" y="1818639"/>
            <a:ext cx="1366601" cy="1981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2000">
                <a:solidFill>
                  <a:srgbClr val="13294B"/>
                </a:solidFill>
                <a:latin typeface="Instrument Serif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0216" y="2673604"/>
            <a:ext cx="497006" cy="858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5200">
                <a:solidFill>
                  <a:srgbClr val="13294B"/>
                </a:solidFill>
                <a:latin typeface="Instrument Serif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0" y="3572239"/>
            <a:ext cx="237998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b="0" i="0" sz="1200">
                <a:solidFill>
                  <a:srgbClr val="13294B"/>
                </a:solidFill>
                <a:latin typeface="Instrument Sans"/>
              </a:rPr>
              <a:t>de la población en México ha padecido caries o enfermedades de las encías.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0" y="4572609"/>
            <a:ext cx="148346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8A8F9C"/>
                </a:solidFill>
                <a:latin typeface="DM Mono"/>
              </a:rPr>
              <a:t>FUENTE: DGCS-UNAM,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22530"/>
            <a:ext cx="2334676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ORGANIZACIÓN MUNDIAL DE LA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26039"/>
            <a:ext cx="494385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b="0" i="0" sz="1150">
                <a:solidFill>
                  <a:srgbClr val="13294B"/>
                </a:solidFill>
                <a:latin typeface="Instrument Sans"/>
              </a:rPr>
              <a:t>Las enfermedades bucodentales —como la caries y la enfermedad periodontal— son un problema de salud pública mundial por su alta prevalencia y su impacto en la masticación, el habla y la estética.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67130"/>
            <a:ext cx="771601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PREVENCIÓN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70639"/>
            <a:ext cx="494385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b="0" i="0" sz="1150">
                <a:solidFill>
                  <a:srgbClr val="13294B"/>
                </a:solidFill>
                <a:latin typeface="Instrument Sans"/>
              </a:rPr>
              <a:t>Prevenirlas depende de hábitos de higiene oral que exigen constancia, técnica correcta y, de manera crucial, tiempo para realizarlos.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1200" y="4283026"/>
            <a:ext cx="47345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b="0" i="1" sz="1700">
                <a:solidFill>
                  <a:srgbClr val="13294B"/>
                </a:solidFill>
                <a:latin typeface="Instrument Serif"/>
              </a:rPr>
              <a:t>Si la prevención exige tiempo, el tiempo disponible se convierte en un factor de salud.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3455822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03 — ARGUMENTO 2 · CONOCIMIENTO Y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5459236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Saber cómo cepillarse no basta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844730"/>
            <a:ext cx="984747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RECOMENDACIÓN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009648"/>
            <a:ext cx="2861096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2400">
                <a:solidFill>
                  <a:srgbClr val="13294B"/>
                </a:solidFill>
                <a:latin typeface="Instrument Serif"/>
              </a:rPr>
              <a:t>Al menos tres veces al 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9901" y="2635961"/>
            <a:ext cx="51099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 spc="130">
                <a:solidFill>
                  <a:srgbClr val="F4F0E8"/>
                </a:solidFill>
                <a:latin typeface="DM Mono"/>
              </a:rPr>
              <a:t>MAÑANA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3220" y="2635961"/>
            <a:ext cx="435559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 spc="130">
                <a:solidFill>
                  <a:srgbClr val="F4F0E8"/>
                </a:solidFill>
                <a:latin typeface="DM Mono"/>
              </a:rPr>
              <a:t>TARDE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8820" y="2635961"/>
            <a:ext cx="435559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 spc="130">
                <a:solidFill>
                  <a:srgbClr val="F4F0E8"/>
                </a:solidFill>
                <a:latin typeface="DM Mono"/>
              </a:rPr>
              <a:t>NOCHE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3343330"/>
            <a:ext cx="2618872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BRECHA ENTRE CONOCIMIENTO Y PRÁCTICA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3659504"/>
            <a:ext cx="1052847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13294B"/>
                </a:solidFill>
                <a:latin typeface="Instrument Serif"/>
              </a:rPr>
              <a:t>Conocimiento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4091304"/>
            <a:ext cx="640339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13294B"/>
                </a:solidFill>
                <a:latin typeface="Instrument Serif"/>
              </a:rPr>
              <a:t>Práctica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7962" y="4395978"/>
            <a:ext cx="546274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1" sz="1400">
                <a:solidFill>
                  <a:srgbClr val="C8372D"/>
                </a:solidFill>
                <a:latin typeface="Instrument Serif"/>
              </a:rPr>
              <a:t>brecha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4877409"/>
            <a:ext cx="1221486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ESQUEMA CONCEPTUAL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4877409"/>
            <a:ext cx="148346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8A8F9C"/>
                </a:solidFill>
                <a:latin typeface="DM Mono"/>
              </a:rPr>
              <a:t>FUENTE: DE ISABEL,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0" y="1844730"/>
            <a:ext cx="247677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LA ADOPCIÓN DEL HÁBITO DEPENDE DE…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23439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556079"/>
                </a:solidFill>
                <a:latin typeface="DM Mono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0" y="2212213"/>
            <a:ext cx="1411274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Rutinas diarias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28265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556079"/>
                </a:solidFill>
                <a:latin typeface="DM Mon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0" y="2694813"/>
            <a:ext cx="1247614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Estilo de vida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3091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556079"/>
                </a:solidFill>
                <a:latin typeface="DM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0" y="3177413"/>
            <a:ext cx="2669209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Condiciones socioeconómicas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8976" y="3782689"/>
            <a:ext cx="1317223" cy="102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20" spc="110">
                <a:solidFill>
                  <a:srgbClr val="C8372D"/>
                </a:solidFill>
                <a:latin typeface="DM Mono"/>
              </a:rPr>
              <a:t>BARRERA ESTRUCTURAL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7917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0" y="3660013"/>
            <a:ext cx="2310358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C8372D"/>
                </a:solidFill>
                <a:latin typeface="Instrument Serif"/>
              </a:rPr>
              <a:t>Disponibilidad de tiempo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4200" y="4383405"/>
            <a:ext cx="486537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b="0" i="1" sz="1500">
                <a:solidFill>
                  <a:srgbClr val="13294B"/>
                </a:solidFill>
                <a:latin typeface="Instrument Serif"/>
              </a:rPr>
              <a:t>La percepción de falta de tiempo actúa como una barrera estructural que impide consolidar una higiene bucal adecuada.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3374898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04 — ARGUMENTO 3 · LA ETAPA UNIVERSITARIA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6561591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Entre los 18 y los 23, el día no alcanza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844730"/>
            <a:ext cx="247677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DEMANDAS DE LA ETAPA UNIVERSITARIA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23313"/>
            <a:ext cx="3073927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Jornadas académicas prolongadas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555113"/>
            <a:ext cx="1697417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Tareas y proyectos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986913"/>
            <a:ext cx="2011445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Periodos de exámenes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18713"/>
            <a:ext cx="2312442" cy="3136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Empleo, en muchos casos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4079930"/>
            <a:ext cx="1624187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00897B"/>
                </a:solidFill>
                <a:latin typeface="DM Mono"/>
              </a:rPr>
              <a:t>EFECTO EN EL CEPILLADO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424141"/>
            <a:ext cx="1214628" cy="119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20" spc="130">
                <a:solidFill>
                  <a:srgbClr val="00897B"/>
                </a:solidFill>
                <a:latin typeface="DM Mono"/>
              </a:rPr>
              <a:t>MENOS FRECUENTE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5200" y="4424141"/>
            <a:ext cx="829208" cy="119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20" spc="130">
                <a:solidFill>
                  <a:srgbClr val="00897B"/>
                </a:solidFill>
                <a:latin typeface="DM Mono"/>
              </a:rPr>
              <a:t>APRESURADO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9629" y="4424141"/>
            <a:ext cx="597956" cy="119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20" spc="130">
                <a:solidFill>
                  <a:srgbClr val="00897B"/>
                </a:solidFill>
                <a:latin typeface="DM Mono"/>
              </a:rPr>
              <a:t>OMITIDO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" y="4852336"/>
            <a:ext cx="551942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1" sz="1100">
                <a:solidFill>
                  <a:srgbClr val="556079"/>
                </a:solidFill>
                <a:latin typeface="Instrument Sans"/>
              </a:rPr>
              <a:t>Es una etapa de transición: cambian las rutinas, las responsabilidades y los hábitos de autocuidado.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9092" y="1885391"/>
            <a:ext cx="191414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7392" y="3523691"/>
            <a:ext cx="191414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9092" y="5161991"/>
            <a:ext cx="191414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0792" y="3523691"/>
            <a:ext cx="191414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725" y="5588609"/>
            <a:ext cx="372465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SUEÑO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3845" y="5588609"/>
            <a:ext cx="434187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CLASES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115" y="5588609"/>
            <a:ext cx="49590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TRABAJO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3535" y="5588609"/>
            <a:ext cx="117485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TAREAS · TRASLADOS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55605" y="5588609"/>
            <a:ext cx="80451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TIEMPO LIBRE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7830" y="5766409"/>
            <a:ext cx="1236573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CEPILLADO REALIZADO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650" y="5766409"/>
            <a:ext cx="1113129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90">
                <a:solidFill>
                  <a:srgbClr val="556079"/>
                </a:solidFill>
                <a:latin typeface="DM Mono"/>
              </a:rPr>
              <a:t>CEPILLADO OMITIDO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148" y="6045809"/>
            <a:ext cx="3413302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FIG. 03 — MODELO ILUSTRATIVO DE UN DÍA DE ESTUDIANTE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3051200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05 — ARGUMENTO 4 · EVIDENCIA EMPÍRICA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7355390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El estrés académico deja huella en la boca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15650"/>
            <a:ext cx="477530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C8372D"/>
                </a:solidFill>
                <a:latin typeface="DM Mono"/>
              </a:rPr>
              <a:t>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51297"/>
            <a:ext cx="2353818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Estrés académico y laboral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572083"/>
            <a:ext cx="2353818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Exigencias universitarias, exámenes y empleo.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400" y="2355250"/>
            <a:ext cx="1032753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00897B"/>
                </a:solidFill>
                <a:latin typeface="DM Mono"/>
              </a:rPr>
              <a:t>VÍA CONDUCTUAL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0400" y="2590897"/>
            <a:ext cx="3374136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Menos cepillado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911683"/>
            <a:ext cx="3374136" cy="22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Se reducen la frecuencia y la calidad del cepillado.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400" y="3980850"/>
            <a:ext cx="1102156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556079"/>
                </a:solidFill>
                <a:latin typeface="DM Mono"/>
              </a:rPr>
              <a:t>VÍA FISIOLÓGICA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400" y="4216497"/>
            <a:ext cx="3374136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Defensas alteradas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4537283"/>
            <a:ext cx="3374136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Cambios inmunológicos que favorecen la inflamación gingival y la placa.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9400" y="3015650"/>
            <a:ext cx="685739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13294B"/>
                </a:solidFill>
                <a:latin typeface="DM Mono"/>
              </a:rP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9400" y="3251297"/>
            <a:ext cx="2353818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Peor salud periodontal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400" y="3572083"/>
            <a:ext cx="2353818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Mayor riesgo de caries y enfermedad de las encías.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964" y="5283809"/>
            <a:ext cx="179207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90">
                <a:solidFill>
                  <a:srgbClr val="8A8F9C"/>
                </a:solidFill>
                <a:latin typeface="DM Mono"/>
              </a:rPr>
              <a:t>FUENTE: DEINZER ET AL., 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" y="5654730"/>
            <a:ext cx="1766285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EVIDENCIA EN ESTUDIANTES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601636"/>
            <a:ext cx="892048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Ravishankar, Ain y Gowhar (2014): el estrés académico se asoció con mayor prevalencia de enfermedad periodontal y peor higiene oral en estudiantes.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2403805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06 — VACÍO EN EL CONOCIMIENTO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4990670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Lo que aún no se ha medido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7861" y="2770886"/>
            <a:ext cx="764276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800">
                <a:solidFill>
                  <a:srgbClr val="13294B"/>
                </a:solidFill>
                <a:latin typeface="Instrument Serif"/>
              </a:rPr>
              <a:t>¿Cuánto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8966" y="3037586"/>
            <a:ext cx="642067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800">
                <a:solidFill>
                  <a:srgbClr val="13294B"/>
                </a:solidFill>
                <a:latin typeface="Instrument Serif"/>
              </a:rPr>
              <a:t>saben?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228" y="4106291"/>
            <a:ext cx="2391543" cy="1704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100">
                <a:solidFill>
                  <a:srgbClr val="13294B"/>
                </a:solidFill>
                <a:latin typeface="Instrument Sans"/>
              </a:rPr>
              <a:t>Conocimiento sobre el cepillado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0712" y="4374550"/>
            <a:ext cx="1518574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60" spc="110">
                <a:solidFill>
                  <a:srgbClr val="556079"/>
                </a:solidFill>
                <a:latin typeface="DM Mono"/>
              </a:rPr>
              <a:t>AMPLIAMENTE ESTUDIADO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2011" y="2770886"/>
            <a:ext cx="807976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800">
                <a:solidFill>
                  <a:srgbClr val="13294B"/>
                </a:solidFill>
                <a:latin typeface="Instrument Serif"/>
              </a:rPr>
              <a:t>¿Qué 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949" y="3037586"/>
            <a:ext cx="798100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1800">
                <a:solidFill>
                  <a:srgbClr val="13294B"/>
                </a:solidFill>
                <a:latin typeface="Instrument Serif"/>
              </a:rPr>
              <a:t>seguido?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5836" y="4106291"/>
            <a:ext cx="1820326" cy="1704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100">
                <a:solidFill>
                  <a:srgbClr val="13294B"/>
                </a:solidFill>
                <a:latin typeface="Instrument Sans"/>
              </a:rPr>
              <a:t>Frecuencia del cepillado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6712" y="4374550"/>
            <a:ext cx="1518574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60" spc="110">
                <a:solidFill>
                  <a:srgbClr val="556079"/>
                </a:solidFill>
                <a:latin typeface="DM Mono"/>
              </a:rPr>
              <a:t>AMPLIAMENTE ESTUDIADO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9158" y="2770886"/>
            <a:ext cx="1485683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1" sz="1800">
                <a:solidFill>
                  <a:srgbClr val="C8372D"/>
                </a:solidFill>
                <a:latin typeface="Instrument Serif"/>
              </a:rPr>
              <a:t>¿Cuánto tiempo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032" y="3037586"/>
            <a:ext cx="731934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1" sz="1800">
                <a:solidFill>
                  <a:srgbClr val="C8372D"/>
                </a:solidFill>
                <a:latin typeface="Instrument Serif"/>
              </a:rPr>
              <a:t>tienen?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2793" y="4106291"/>
            <a:ext cx="1878413" cy="1704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1" i="0" sz="1100">
                <a:solidFill>
                  <a:srgbClr val="13294B"/>
                </a:solidFill>
                <a:latin typeface="Instrument Sans"/>
              </a:rPr>
              <a:t>Disponibilidad de tiempo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5623" y="4374550"/>
            <a:ext cx="1032753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60" spc="110">
                <a:solidFill>
                  <a:srgbClr val="C8372D"/>
                </a:solidFill>
                <a:latin typeface="DM Mono"/>
              </a:rPr>
              <a:t>POCO ESTUDIADO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309" y="1923450"/>
            <a:ext cx="1657380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60" spc="110">
                <a:solidFill>
                  <a:srgbClr val="C8372D"/>
                </a:solidFill>
                <a:latin typeface="DM Mono"/>
              </a:rPr>
              <a:t>APORTE DE ESTE PROYECTO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" y="5121330"/>
            <a:ext cx="1055796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CONTEXTO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3800" y="5073285"/>
            <a:ext cx="3949700" cy="603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El problema no ha sido documentado de manera sistemática: se desconoce en qué medida los horarios influyen en el cepillado.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7200" y="5054697"/>
            <a:ext cx="499618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1" sz="1600">
                <a:solidFill>
                  <a:srgbClr val="13294B"/>
                </a:solidFill>
                <a:latin typeface="Instrument Serif"/>
              </a:rPr>
              <a:t>La hipótesis se enfoca justo en la variable menos estudiada: el tiempo disponible.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2241956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07 — SÍNTESIS DEL ARGUMENTO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5692216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Por qué esperamos esta relación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0518" y="1997130"/>
            <a:ext cx="1908383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LO QUE AFIRMA LA HIPÓTESIS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3907" y="1997130"/>
            <a:ext cx="1126845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POR QUÉ IMPORTA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10850"/>
            <a:ext cx="755142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13294B"/>
                </a:solidFill>
                <a:latin typeface="DM Mono"/>
              </a:rPr>
              <a:t>01 · CAUSA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46497"/>
            <a:ext cx="2170684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Horarios académicos y laborales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33983"/>
            <a:ext cx="2170684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Jornadas prolongadas, exámenes y empleo.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310" y="2710850"/>
            <a:ext cx="546933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C8372D"/>
                </a:solidFill>
                <a:latin typeface="DM Mono"/>
              </a:rPr>
              <a:t>02 · 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3310" y="2946497"/>
            <a:ext cx="2170684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Menos tiempo 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310" y="3267283"/>
            <a:ext cx="2170684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Barrera estructural para el autocuidado.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620" y="2710850"/>
            <a:ext cx="546933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00897B"/>
                </a:solidFill>
                <a:latin typeface="DM Mono"/>
              </a:rPr>
              <a:t>03 · 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620" y="2946497"/>
            <a:ext cx="2170684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Cepillado menos frecuente y de menor 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620" y="3800683"/>
            <a:ext cx="2170684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Apresurado u omitido durante la jornada.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930" y="2710850"/>
            <a:ext cx="1240962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556079"/>
                </a:solidFill>
                <a:latin typeface="DM Mono"/>
              </a:rPr>
              <a:t>04 · CONSECUENCIA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930" y="2946497"/>
            <a:ext cx="2170684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0" sz="1900">
                <a:solidFill>
                  <a:srgbClr val="13294B"/>
                </a:solidFill>
                <a:latin typeface="Instrument Serif"/>
              </a:rPr>
              <a:t>Mayor riesgo bucal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930" y="3267283"/>
            <a:ext cx="2170684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b="0" i="0" sz="1000">
                <a:solidFill>
                  <a:srgbClr val="556079"/>
                </a:solidFill>
                <a:latin typeface="Instrument Sans"/>
              </a:rPr>
              <a:t>Placa, caries y enfermedad periodontal.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6096" y="4702129"/>
            <a:ext cx="2015916" cy="959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580" spc="70">
                <a:solidFill>
                  <a:srgbClr val="8A8F9C"/>
                </a:solidFill>
                <a:latin typeface="DM Mono"/>
              </a:rPr>
              <a:t>MARCO TEÓRICO: ETAPA UNIVERSITARIA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5408" y="4702129"/>
            <a:ext cx="2359914" cy="959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580" spc="70">
                <a:solidFill>
                  <a:srgbClr val="8A8F9C"/>
                </a:solidFill>
                <a:latin typeface="DM Mono"/>
              </a:rPr>
              <a:t>DE ISABEL (2026) · DEINZER ET AL. (2001)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3385" y="4702129"/>
            <a:ext cx="2646578" cy="959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580" spc="70">
                <a:solidFill>
                  <a:srgbClr val="8A8F9C"/>
                </a:solidFill>
                <a:latin typeface="DM Mono"/>
              </a:rPr>
              <a:t>OMS · DGCS (2025) · RAVISHANKAR ET AL. (2014)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359497"/>
            <a:ext cx="11222736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b="0" i="1" sz="1650">
                <a:solidFill>
                  <a:srgbClr val="13294B"/>
                </a:solidFill>
                <a:latin typeface="Instrument Serif"/>
              </a:rPr>
              <a:t>Si los horarios reducen el tiempo disponible, y el tiempo condiciona el cepillado, entonces: a menor tiempo disponible, menor frecuencia y calidad del cepillado.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1513636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08 — CONTRASTACIÓN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7328288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Cada parte de la hipótesis se puede medir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772310"/>
            <a:ext cx="1432712" cy="107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50" spc="110">
                <a:solidFill>
                  <a:srgbClr val="556079"/>
                </a:solidFill>
                <a:latin typeface="DM Mono"/>
              </a:rPr>
              <a:t>LA HIPÓTESIS AFIRMA…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0" y="1772310"/>
            <a:ext cx="1364132" cy="107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50" spc="110">
                <a:solidFill>
                  <a:srgbClr val="556079"/>
                </a:solidFill>
                <a:latin typeface="DM Mono"/>
              </a:rPr>
              <a:t>…Y SE COMPRUEBA 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1407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73732"/>
            <a:ext cx="2274051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13294B"/>
                </a:solidFill>
                <a:latin typeface="Instrument Serif"/>
              </a:rPr>
              <a:t>La disponibilidad de tiempo…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0" y="2172411"/>
            <a:ext cx="195117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C8372D"/>
                </a:solidFill>
                <a:latin typeface="DM Mono"/>
              </a:rPr>
              <a:t>CUESTIONARIO · SECCIÓN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0" y="2347150"/>
            <a:ext cx="4705658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Horas diarias en clases, tareas y trabajo; percepción de falta de tiempo.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28011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2834132"/>
            <a:ext cx="4254203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13294B"/>
                </a:solidFill>
                <a:latin typeface="Instrument Serif"/>
              </a:rPr>
              <a:t>…condicionada por los horarios académicos y laborales…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0" y="2832811"/>
            <a:ext cx="180578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C8372D"/>
                </a:solidFill>
                <a:latin typeface="DM Mono"/>
              </a:rPr>
              <a:t>CUESTIONARIO · SECCIÓN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0" y="3007550"/>
            <a:ext cx="3441468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Turno y si el estudiante trabaja además de estudiar.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800" y="34615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13294B"/>
                </a:solidFill>
                <a:latin typeface="DM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" y="3494532"/>
            <a:ext cx="2620353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13294B"/>
                </a:solidFill>
                <a:latin typeface="Instrument Serif"/>
              </a:rPr>
              <a:t>…influye de manera significativa…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0" y="3493211"/>
            <a:ext cx="1733092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13294B"/>
                </a:solidFill>
                <a:latin typeface="DM Mono"/>
              </a:rPr>
              <a:t>ANÁLISIS DE CORRELACIÓN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1000" y="3667950"/>
            <a:ext cx="3300619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Coeficiente r y prueba de significancia (p &lt; 0.05).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800" y="41219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00897B"/>
                </a:solidFill>
                <a:latin typeface="DM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" y="4154932"/>
            <a:ext cx="2567464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13294B"/>
                </a:solidFill>
                <a:latin typeface="Instrument Serif"/>
              </a:rPr>
              <a:t>…en los hábitos de higiene bucal…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1000" y="4153611"/>
            <a:ext cx="1878482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00897B"/>
                </a:solidFill>
                <a:latin typeface="DM Mono"/>
              </a:rPr>
              <a:t>CUESTIONARIO · SECCIÓN 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1000" y="4328350"/>
            <a:ext cx="5191431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Frecuencia y momento del cepillado, hilo dental, enjuague y visitas al dentista.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800" y="47823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13294B"/>
                </a:solidFill>
                <a:latin typeface="DM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" y="4815332"/>
            <a:ext cx="3792248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600">
                <a:solidFill>
                  <a:srgbClr val="13294B"/>
                </a:solidFill>
                <a:latin typeface="Instrument Serif"/>
              </a:rPr>
              <a:t>…de los estudiantes universitarios de 18 a 23 años…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1000" y="4814011"/>
            <a:ext cx="1442313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13294B"/>
                </a:solidFill>
                <a:latin typeface="DM Mono"/>
              </a:rPr>
              <a:t>POBLACIÓN Y MUESTRA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1000" y="4988750"/>
            <a:ext cx="3831757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Estudiantes de 18 a 23 años de distintas carreras y turnos.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800" y="54427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13294B"/>
                </a:solidFill>
                <a:latin typeface="DM Mon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" y="5361432"/>
            <a:ext cx="4577242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1600">
                <a:solidFill>
                  <a:srgbClr val="13294B"/>
                </a:solidFill>
                <a:latin typeface="Instrument Serif"/>
              </a:rPr>
              <a:t>…a menor tiempo disponible, menor frecuencia y calidad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" y="5590032"/>
            <a:ext cx="1114226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1600">
                <a:solidFill>
                  <a:srgbClr val="13294B"/>
                </a:solidFill>
                <a:latin typeface="Instrument Serif"/>
              </a:rPr>
              <a:t>del cepillado.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1000" y="5474411"/>
            <a:ext cx="180578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00" spc="110">
                <a:solidFill>
                  <a:srgbClr val="13294B"/>
                </a:solidFill>
                <a:latin typeface="DM Mono"/>
              </a:rPr>
              <a:t>DIRECCIÓN DE LA RELACIÓN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1000" y="5649150"/>
            <a:ext cx="4155077" cy="1626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Un coeficiente r positivo: menos horas libres, menos cepillado.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2403805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09 — CRITERIO DE VERIFICACIÓN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4850986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Qué resultado la sostendría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934210"/>
            <a:ext cx="300868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000">
                <a:solidFill>
                  <a:srgbClr val="C8372D"/>
                </a:solidFill>
                <a:latin typeface="Instrument Serif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985" y="2202815"/>
            <a:ext cx="156644" cy="2324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C8372D"/>
                </a:solidFill>
                <a:latin typeface="Instrumen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1997130"/>
            <a:ext cx="1908383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HIPÓTESIS DE INVESTIGACIÓN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164985"/>
            <a:ext cx="486537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Existe una relación significativa y directa entre el tiempo disponible y la frecuencia y calidad del cepillado dental.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2829560"/>
            <a:ext cx="300868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000">
                <a:solidFill>
                  <a:srgbClr val="556079"/>
                </a:solidFill>
                <a:latin typeface="Instrument Serif"/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985" y="3098165"/>
            <a:ext cx="213222" cy="2324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556079"/>
                </a:solidFill>
                <a:latin typeface="Instrument San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2892480"/>
            <a:ext cx="1055796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HIPÓTESIS NULA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60335"/>
            <a:ext cx="486537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No existe una relación significativa entre el tiempo disponible y los hábitos de higiene bucal.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3838630"/>
            <a:ext cx="487405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C8372D"/>
                </a:solidFill>
                <a:latin typeface="DM Mono"/>
              </a:rPr>
              <a:t>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90585"/>
            <a:ext cx="486537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13294B"/>
                </a:solidFill>
                <a:latin typeface="Instrument Sans"/>
              </a:rPr>
              <a:t>Análisis de correlación entre las horas disponibles y la frecuencia y calidad del cepillado, con datos de una encuesta a estudiantes de 18 a 23 años.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301650"/>
            <a:ext cx="1240962" cy="109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60" spc="110">
                <a:solidFill>
                  <a:srgbClr val="C8372D"/>
                </a:solidFill>
                <a:latin typeface="DM Mono"/>
              </a:rPr>
              <a:t>REGLA DE DECISIÓN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513705"/>
            <a:ext cx="145445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1500">
                <a:solidFill>
                  <a:srgbClr val="13294B"/>
                </a:solidFill>
                <a:latin typeface="Instrument Serif"/>
              </a:rPr>
              <a:t>Si  r &gt; 0  y  p &lt;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8159" y="5560631"/>
            <a:ext cx="1199266" cy="1781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150">
                <a:solidFill>
                  <a:srgbClr val="13294B"/>
                </a:solidFill>
                <a:latin typeface="Instrument Sans"/>
              </a:rPr>
              <a:t>   →   se rechaza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8035" y="5513705"/>
            <a:ext cx="188534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500">
                <a:solidFill>
                  <a:srgbClr val="13294B"/>
                </a:solidFill>
                <a:latin typeface="Instrument Serif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2208" y="5648007"/>
            <a:ext cx="144711" cy="1162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13294B"/>
                </a:solidFill>
                <a:latin typeface="Instrument San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3745" y="5560631"/>
            <a:ext cx="1836984" cy="1781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1150">
                <a:solidFill>
                  <a:srgbClr val="13294B"/>
                </a:solidFill>
                <a:latin typeface="Instrument Sans"/>
              </a:rPr>
              <a:t>y se sostiene la hipótesis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7800" y="1849770"/>
            <a:ext cx="3516721" cy="1058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40" spc="110">
                <a:solidFill>
                  <a:srgbClr val="556079"/>
                </a:solidFill>
                <a:latin typeface="DM Mono"/>
              </a:rPr>
              <a:t>FIG. 04 — PATRÓN ESPERADO SI LA HIPÓTESIS SE CUMPLE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109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894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79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464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249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034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819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604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3896" y="522041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2592" y="507436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2592" y="447492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2592" y="387548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2592" y="327604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2592" y="2676601"/>
            <a:ext cx="133807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4985" y="2077161"/>
            <a:ext cx="191414" cy="115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700">
                <a:solidFill>
                  <a:srgbClr val="556079"/>
                </a:solidFill>
                <a:latin typeface="DM Mono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4731" y="5456570"/>
            <a:ext cx="2229337" cy="1058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40" spc="110">
                <a:solidFill>
                  <a:srgbClr val="556079"/>
                </a:solidFill>
                <a:latin typeface="DM Mono"/>
              </a:rPr>
              <a:t>TIEMPO DISPONIBLE AL DÍA (HORAS)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5400" y="4345432"/>
            <a:ext cx="449275" cy="264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1600">
                <a:solidFill>
                  <a:srgbClr val="13294B"/>
                </a:solidFill>
                <a:latin typeface="Instrument Serif"/>
              </a:rPr>
              <a:t>r &gt;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4400" y="4686909"/>
            <a:ext cx="1866138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00" spc="110">
                <a:solidFill>
                  <a:srgbClr val="556079"/>
                </a:solidFill>
                <a:latin typeface="DM Mono"/>
              </a:rPr>
              <a:t>TENDENCIA · RELACIÓN DIRECTA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2336" y="5664809"/>
            <a:ext cx="2188464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ILUSTRATIVO · NO SON DATOS REALES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1270863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10 — RELEVANCIA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5499369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Si se confirma, se puede actuar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790211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b="0" i="0" sz="2000">
                <a:solidFill>
                  <a:srgbClr val="13294B"/>
                </a:solidFill>
                <a:latin typeface="Instrument Serif"/>
              </a:rPr>
              <a:t>Comprobar la hipótesis permitiría identificar qué factores limitan más el tiempo de los estudiantes y diseñar soluciones a su medida.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3052572"/>
            <a:ext cx="199150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600">
                <a:solidFill>
                  <a:srgbClr val="00897B"/>
                </a:solidFill>
                <a:latin typeface="Instrument Serif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7280" y="3095630"/>
            <a:ext cx="663519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556079"/>
                </a:solidFill>
                <a:latin typeface="DM Mono"/>
              </a:rPr>
              <a:t>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3732212"/>
            <a:ext cx="2544222" cy="193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50">
                <a:solidFill>
                  <a:srgbClr val="13294B"/>
                </a:solidFill>
                <a:latin typeface="Instrument Sans"/>
              </a:rPr>
              <a:t>Campañas de concientización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4019185"/>
            <a:ext cx="319100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556079"/>
                </a:solidFill>
                <a:latin typeface="Instrument Sans"/>
              </a:rPr>
              <a:t>Sobre la importancia del cepillado y la organización del tiempo durante la jornada.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00" y="3052572"/>
            <a:ext cx="27568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600">
                <a:solidFill>
                  <a:srgbClr val="00897B"/>
                </a:solidFill>
                <a:latin typeface="Instrument Serif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180" y="3095630"/>
            <a:ext cx="663519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556079"/>
                </a:solidFill>
                <a:latin typeface="DM Mono"/>
              </a:rPr>
              <a:t>PROPUESTA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9300" y="3732212"/>
            <a:ext cx="2172690" cy="193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50">
                <a:solidFill>
                  <a:srgbClr val="13294B"/>
                </a:solidFill>
                <a:latin typeface="Instrument Sans"/>
              </a:rPr>
              <a:t>Espacios para el cepillado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4019185"/>
            <a:ext cx="319100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556079"/>
                </a:solidFill>
                <a:latin typeface="Instrument Sans"/>
              </a:rPr>
              <a:t>Lugares accesibles para lavarse los dientes dentro de las instalaciones.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3052572"/>
            <a:ext cx="259390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600">
                <a:solidFill>
                  <a:srgbClr val="00897B"/>
                </a:solidFill>
                <a:latin typeface="Instrument Serif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1080" y="3095630"/>
            <a:ext cx="663519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556079"/>
                </a:solidFill>
                <a:latin typeface="DM Mono"/>
              </a:rPr>
              <a:t>PROPUESTA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200" y="3732212"/>
            <a:ext cx="1769954" cy="193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1" i="0" sz="1250">
                <a:solidFill>
                  <a:srgbClr val="13294B"/>
                </a:solidFill>
                <a:latin typeface="Instrument Sans"/>
              </a:rPr>
              <a:t>Orientación práctica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1200" y="4019185"/>
            <a:ext cx="3191002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b="0" i="0" sz="1050">
                <a:solidFill>
                  <a:srgbClr val="556079"/>
                </a:solidFill>
                <a:latin typeface="Instrument Sans"/>
              </a:rPr>
              <a:t>Técnicas de cepillado eficientes para mantener la higiene aun con poco tiempo.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272405"/>
            <a:ext cx="8972804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b="0" i="1" sz="1500">
                <a:solidFill>
                  <a:srgbClr val="13294B"/>
                </a:solidFill>
                <a:latin typeface="Instrument Serif"/>
              </a:rPr>
              <a:t>Las estrategias de prevención no deben limitarse a transmitir información: deben adaptarse a las realidades y limitaciones de los estudiantes.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8348" y="5626709"/>
            <a:ext cx="1174851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00" spc="90">
                <a:solidFill>
                  <a:srgbClr val="8A8F9C"/>
                </a:solidFill>
                <a:latin typeface="DM Mono"/>
              </a:rPr>
              <a:t>FUENTE: JOSÉ,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845312"/>
            <a:ext cx="1351788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11 —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957326"/>
            <a:ext cx="6038298" cy="627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3800">
                <a:solidFill>
                  <a:srgbClr val="13294B"/>
                </a:solidFill>
                <a:latin typeface="Instrument Serif"/>
              </a:rPr>
              <a:t>Fuentes que sustentan la hipótesis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9375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8805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Deinzer, R., Hilpert, D., Bach, K., Schawacht, M., &amp; Herforth, A. (2001). Effects of academic stress on oral hygiene—A potential link between stress and plaque-associated disease? Journal of Clinical Periodontology, 28(5), 459–464.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4582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4012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de Isabel, V. (2026). La salud bucodental en universitarios: el eslabón olvidado del bienestar académico. Blog de ISAG [en línea]. Usal.es. Consultado el 16 de septiembre de 2026.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29789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9219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DGCS-UNAM (2025). En México, 95 por ciento de la población padece caries o enfermedades en las encías. Boletín DGCS. https://www.dgcs.unam.mx/boletin/bdboletin/2025_184.html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34996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4426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Hábitos de higiene bucal y su influencia sobre la frecuencia de caries. Universidad Nacional de Loja, Ecuador. https://dspace.unl.edu.ec/items/f83a95b0-cf2c-4758-8cfa-285621764e9b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0203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39633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Hábitos de higiene oral en estudiantes de odontología de la Universidad de Chile. SciELO. https://www.scielo.cl/scielo.php?script=sci_arttext&amp;pid=S0719-01072010000100002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800" y="45410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4484036"/>
            <a:ext cx="10987278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José, V. C. M. (2025). Gestión educativa y salud bucal en los estudiantes de la Universidad del Azuay. Universidad del Azuay.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4871212"/>
            <a:ext cx="199644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>
                <a:solidFill>
                  <a:srgbClr val="C8372D"/>
                </a:solidFill>
                <a:latin typeface="DM Mono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814236"/>
            <a:ext cx="10987278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b="0" i="0" sz="1100">
                <a:solidFill>
                  <a:srgbClr val="13294B"/>
                </a:solidFill>
                <a:latin typeface="Instrument Sans"/>
              </a:rPr>
              <a:t>Ravishankar, T. L., Ain, T. S., &amp; Gowhar, O. (2014). Effect of academic stress on plaque and gingival health among dental students of Moradabad, India. Journal of International Academy of Periodontology, 16(4), 115–120.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" descr="fondo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800" y="295330"/>
            <a:ext cx="311621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SALUD BUCAL — JUSTIFICACIÓN DE LA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74745" y="295330"/>
            <a:ext cx="558454" cy="112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80" spc="110">
                <a:solidFill>
                  <a:srgbClr val="556079"/>
                </a:solidFill>
                <a:latin typeface="DM Mono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073912"/>
            <a:ext cx="1270863" cy="124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750" spc="140">
                <a:solidFill>
                  <a:srgbClr val="C8372D"/>
                </a:solidFill>
                <a:latin typeface="DM Mono"/>
              </a:rPr>
              <a:t>12 — 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700" y="1379474"/>
            <a:ext cx="4891119" cy="1023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200">
                <a:solidFill>
                  <a:srgbClr val="13294B"/>
                </a:solidFill>
                <a:latin typeface="Instrument Serif"/>
              </a:rPr>
              <a:t>A menor tiempo,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" y="2192274"/>
            <a:ext cx="5403905" cy="1023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6200">
                <a:solidFill>
                  <a:srgbClr val="C8372D"/>
                </a:solidFill>
                <a:latin typeface="Instrument Serif"/>
              </a:rPr>
              <a:t>¿menor cuidado?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3374244"/>
            <a:ext cx="5911850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b="0" i="0" sz="1250">
                <a:solidFill>
                  <a:srgbClr val="556079"/>
                </a:solidFill>
                <a:latin typeface="Instrument Sans"/>
              </a:rPr>
              <a:t>La evidencia teórica y empírica respalda que el tiempo disponible condiciona la higiene bucal. El estudio busca comprobarlo con datos de los propios estudiantes.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550918"/>
            <a:ext cx="1470568" cy="5613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1" sz="3400">
                <a:solidFill>
                  <a:srgbClr val="13294B"/>
                </a:solidFill>
                <a:latin typeface="Instrument Serif"/>
              </a:rPr>
              <a:t>Gracias.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648" y="4420209"/>
            <a:ext cx="447903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556079"/>
                </a:solidFill>
                <a:latin typeface="DM Mono"/>
              </a:rPr>
              <a:t>MAÑANA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880" y="4420209"/>
            <a:ext cx="383438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556079"/>
                </a:solidFill>
                <a:latin typeface="DM Mono"/>
              </a:rPr>
              <a:t>TARDE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69880" y="4420209"/>
            <a:ext cx="383438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556079"/>
                </a:solidFill>
                <a:latin typeface="DM Mono"/>
              </a:rPr>
              <a:t>NOCHE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7018" y="4902809"/>
            <a:ext cx="3671163" cy="992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b="0" i="0" sz="600" spc="110">
                <a:solidFill>
                  <a:srgbClr val="8A8F9C"/>
                </a:solidFill>
                <a:latin typeface="DM Mono"/>
              </a:rPr>
              <a:t>FIG. 05 — ARCADA SUPERIOR · TRES CEPILLADOS RECOMENDADOS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6524630"/>
            <a:ext cx="3140080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TECNM · INSTITUTO TECNOLÓGICO DE CIUDAD JUÁREZ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8592" y="6524630"/>
            <a:ext cx="2604607" cy="1041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b="0" i="0" sz="630" spc="110">
                <a:solidFill>
                  <a:srgbClr val="8A8F9C"/>
                </a:solidFill>
                <a:latin typeface="DM Mono"/>
              </a:rPr>
              <a:t>TALLER DE INVESTIGACIÓN II · UNIDAD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5915469"/>
            <a:ext cx="7721930" cy="1471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b="0" i="0" sz="950">
                <a:solidFill>
                  <a:srgbClr val="13294B"/>
                </a:solidFill>
                <a:latin typeface="Instrument Sans"/>
              </a:rPr>
              <a:t>Romero Elías Esmeralda · Rodríguez Esquivel Megan · Nolasco Mejia Luis Diego · Esquivel Soria Pablo · Rodríguez Hernández Tania</a:t>
            </a:r>
          </a:p>
        </p:txBody>
      </p:sp>
      <p:pic>
        <p:nvPicPr>
          <p:cNvPr id="17" name="Picture 16" descr="itc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5842000"/>
            <a:ext cx="752428" cy="355600"/>
          </a:xfrm>
          <a:prstGeom prst="rect">
            <a:avLst/>
          </a:prstGeom>
        </p:spPr>
      </p:pic>
      <p:pic>
        <p:nvPicPr>
          <p:cNvPr id="18" name="Picture 17" descr="tecn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5842000"/>
            <a:ext cx="806026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